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</p:sldIdLst>
  <p:sldSz cx="24384000" cy="13716000"/>
  <p:notesSz cx="6858000" cy="9144000"/>
  <p:embeddedFontLst>
    <p:embeddedFont>
      <p:font typeface="Pretendard Regular"/>
      <p:regular r:id="rId9"/>
    </p:embeddedFont>
    <p:embeddedFont>
      <p:font typeface="Pretendard Bold"/>
      <p:bold r:id="rId10"/>
    </p:embeddedFont>
    <p:embeddedFont>
      <p:font typeface="Pretendard Light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2.fntdata" Type="http://schemas.openxmlformats.org/officeDocument/2006/relationships/font"/><Relationship Id="rId11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1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10.png" Type="http://schemas.openxmlformats.org/officeDocument/2006/relationships/image"/><Relationship Id="rId6" Target="../media/image5.png" Type="http://schemas.openxmlformats.org/officeDocument/2006/relationships/image"/><Relationship Id="rId7" Target="../media/image3.png" Type="http://schemas.openxmlformats.org/officeDocument/2006/relationships/image"/><Relationship Id="rId8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458700"/>
            <a:ext cx="24384000" cy="125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688300" y="850900"/>
            <a:ext cx="2425700" cy="685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44600" y="1117600"/>
            <a:ext cx="571500" cy="38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161000" y="850900"/>
            <a:ext cx="2425700" cy="68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4600" y="1955800"/>
            <a:ext cx="219202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760200" y="8864600"/>
            <a:ext cx="876300" cy="876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798300" y="8902700"/>
            <a:ext cx="787400" cy="838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44600" y="12903200"/>
            <a:ext cx="1371600" cy="381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133" b="false" i="false" u="none" strike="noStrike">
                <a:solidFill>
                  <a:srgbClr val="FFFFFF"/>
                </a:solidFill>
                <a:ea typeface="Pretendard Bold"/>
              </a:rPr>
              <a:t>게임공학과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26700" y="12903200"/>
            <a:ext cx="3543300" cy="381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2133" b="false" i="false" u="none" strike="noStrike">
                <a:solidFill>
                  <a:srgbClr val="FFFFFF"/>
                </a:solidFill>
                <a:latin typeface="Pretendard Regular"/>
              </a:rPr>
              <a:t>2022180012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1500" y="4064000"/>
            <a:ext cx="15633700" cy="2616200"/>
          </a:xfrm>
          <a:prstGeom prst="rect">
            <a:avLst/>
          </a:prstGeom>
        </p:spPr>
        <p:txBody>
          <a:bodyPr anchor="t" rtlCol="false" lIns="0" tIns="169333" rIns="0" bIns="0"/>
          <a:lstStyle/>
          <a:p>
            <a:pPr algn="ctr" lvl="0">
              <a:lnSpc>
                <a:spcPct val="99600"/>
              </a:lnSpc>
            </a:pPr>
            <a:r>
              <a:rPr lang="en" sz="13333" b="false" i="false" u="none" strike="noStrike" spc="-133">
                <a:solidFill>
                  <a:srgbClr val="000000"/>
                </a:solidFill>
                <a:latin typeface="Pretendard Light"/>
              </a:rPr>
              <a:t>2025 - 2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5400" y="12903200"/>
            <a:ext cx="1651000" cy="381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2133" b="false" i="false" u="none" strike="noStrike">
                <a:solidFill>
                  <a:srgbClr val="FFFFFF"/>
                </a:solidFill>
                <a:ea typeface="Pretendard Regular"/>
              </a:rPr>
              <a:t>김형민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40000" y="6096000"/>
            <a:ext cx="19316700" cy="2616200"/>
          </a:xfrm>
          <a:prstGeom prst="rect">
            <a:avLst/>
          </a:prstGeom>
        </p:spPr>
        <p:txBody>
          <a:bodyPr anchor="t" rtlCol="false" lIns="0" tIns="169333" rIns="0" bIns="0"/>
          <a:lstStyle/>
          <a:p>
            <a:pPr algn="ctr" lvl="0">
              <a:lnSpc>
                <a:spcPct val="99600"/>
              </a:lnSpc>
            </a:pPr>
            <a:r>
              <a:rPr lang="en-US" sz="13333" b="false" i="false" u="none" strike="noStrike" spc="-133">
                <a:solidFill>
                  <a:srgbClr val="000000"/>
                </a:solidFill>
                <a:latin typeface="Pretendard Bold"/>
              </a:rPr>
              <a:t>2DGP </a:t>
            </a:r>
            <a:r>
              <a:rPr lang="ko-KR" sz="13333" b="false" i="false" u="none" strike="noStrike" spc="-133">
                <a:solidFill>
                  <a:srgbClr val="000000"/>
                </a:solidFill>
                <a:ea typeface="Pretendard Bold"/>
              </a:rPr>
              <a:t>최종발표</a:t>
            </a:r>
            <a:br>
              <a:rPr lang="ko-KR" sz="13333" b="false" i="false" u="none" strike="noStrike" spc="-133">
                <a:solidFill>
                  <a:srgbClr val="000000"/>
                </a:solidFill>
                <a:ea typeface="Pretendard Bold"/>
              </a:rPr>
            </a:b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44600" y="4813300"/>
            <a:ext cx="774700" cy="774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295400" y="4838700"/>
            <a:ext cx="7112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688300" y="850900"/>
            <a:ext cx="2425700" cy="68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4600" y="1117600"/>
            <a:ext cx="571500" cy="38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161000" y="850900"/>
            <a:ext cx="2425700" cy="685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1955800"/>
            <a:ext cx="21920200" cy="12700"/>
          </a:xfrm>
          <a:prstGeom prst="rect">
            <a:avLst/>
          </a:prstGeom>
        </p:spPr>
      </p:pic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222500" y="4203700"/>
          <a:ext cx="20891500" cy="7543800"/>
        </p:xfrm>
        <a:graphic>
          <a:graphicData uri="http://schemas.openxmlformats.org/drawingml/2006/table">
            <a:tbl>
              <a:tblPr/>
              <a:tblGrid>
                <a:gridCol w="2976441"/>
                <a:gridCol w="6461291"/>
                <a:gridCol w="8887196"/>
                <a:gridCol w="2566219"/>
              </a:tblGrid>
              <a:tr h="99489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내용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666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목표</a:t>
                      </a: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666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범위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666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실제</a:t>
                      </a: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666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개발</a:t>
                      </a: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666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완료</a:t>
                      </a: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666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범위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666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진척도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F9F9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06642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씬</a:t>
                      </a:r>
                      <a:r>
                        <a:rPr lang="en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394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타이틀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캐릭터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선택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플레이씬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3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종류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모두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구현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100%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87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캐릭터</a:t>
                      </a: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컨트롤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(</a:t>
                      </a:r>
                      <a:r>
                        <a:rPr lang="ko-KR" sz="2266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상중하</a:t>
                      </a: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) [</a:t>
                      </a:r>
                      <a:r>
                        <a:rPr lang="ko-KR" sz="2266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약공격</a:t>
                      </a: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266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강공격</a:t>
                      </a: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266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방어</a:t>
                      </a: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] </a:t>
                      </a:r>
                      <a:r>
                        <a:rPr lang="ko-KR" sz="2266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좌</a:t>
                      </a: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2266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우</a:t>
                      </a: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66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이동</a:t>
                      </a: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266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레이지</a:t>
                      </a: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66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스킬</a:t>
                      </a:r>
                      <a:r>
                        <a:rPr lang="en-US" sz="2266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 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레이지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스킬을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제외한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나머지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구현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완료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80%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690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게임</a:t>
                      </a: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코어</a:t>
                      </a: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02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기능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위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아래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키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+ (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공격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혹은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 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키다운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)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으로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상단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하단에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대한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공격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방어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구현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충돌처리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하단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공격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성공시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상대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플레이어가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공중으로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띄워짐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방어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성공시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바로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공격하여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반격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가능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HP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30%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이하가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되었을때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레이지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스킬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사용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가능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상단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중단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하단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공격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-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방어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충돌처리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하단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공격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성공시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플레이어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위로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띄어짐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방어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성공시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반격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가능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80%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87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2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모델링</a:t>
                      </a: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2202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애니메이션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총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4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종의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캐릭터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3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종류의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캐릭터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75%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666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202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사운드</a:t>
                      </a:r>
                      <a:endParaRPr lang="en-US" sz="1100"/>
                    </a:p>
                  </a:txBody>
                  <a:tcPr anchor="ctr" marL="91440" marT="45720" marR="91440" marB="4572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씬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별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배경음악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공격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/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피격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효과음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라운드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종료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효과음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모두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구현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완료하였으나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,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공격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/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피격이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싱크가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잘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맞지</a:t>
                      </a:r>
                      <a:r>
                        <a:rPr lang="en-US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false" i="false" u="none" strike="noStrike">
                          <a:solidFill>
                            <a:srgbClr val="000000"/>
                          </a:solidFill>
                          <a:ea typeface="Pretendard Regular"/>
                        </a:rPr>
                        <a:t>않음</a:t>
                      </a:r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99" b="false" i="false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80%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244600" y="2273300"/>
            <a:ext cx="5791200" cy="927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5199" b="false" i="false" u="none" strike="noStrike">
                <a:solidFill>
                  <a:srgbClr val="000000"/>
                </a:solidFill>
                <a:ea typeface="Pretendard Bold"/>
              </a:rPr>
              <a:t>개발</a:t>
            </a:r>
            <a:r>
              <a:rPr lang="en-US" sz="5199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199" b="false" i="false" u="none" strike="noStrike">
                <a:solidFill>
                  <a:srgbClr val="000000"/>
                </a:solidFill>
                <a:ea typeface="Pretendard Bold"/>
              </a:rPr>
              <a:t>진척도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44600" y="4813300"/>
            <a:ext cx="774700" cy="774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295400" y="4838700"/>
            <a:ext cx="7112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688300" y="850900"/>
            <a:ext cx="2425700" cy="68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161000" y="850900"/>
            <a:ext cx="2425700" cy="68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4600" y="1955800"/>
            <a:ext cx="219202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1117600"/>
            <a:ext cx="5715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70000" y="2641600"/>
            <a:ext cx="5473700" cy="1231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6933" b="false" i="false" u="none" strike="noStrike">
                <a:solidFill>
                  <a:srgbClr val="000000"/>
                </a:solidFill>
                <a:ea typeface="Pretendard Bold"/>
              </a:rPr>
              <a:t>깃</a:t>
            </a:r>
            <a:r>
              <a:rPr lang="en-US" sz="69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6933" b="false" i="false" u="none" strike="noStrike">
                <a:solidFill>
                  <a:srgbClr val="000000"/>
                </a:solidFill>
                <a:ea typeface="Pretendard Bold"/>
              </a:rPr>
              <a:t>커밋</a:t>
            </a:r>
            <a:r>
              <a:rPr lang="en-US" sz="69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6933" b="false" i="false" u="none" strike="noStrike">
                <a:solidFill>
                  <a:srgbClr val="000000"/>
                </a:solidFill>
                <a:ea typeface="Pretendard Bold"/>
              </a:rPr>
              <a:t>통계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11400" y="4711700"/>
            <a:ext cx="10337800" cy="7581900"/>
          </a:xfrm>
          <a:prstGeom prst="rect">
            <a:avLst/>
          </a:prstGeom>
        </p:spPr>
      </p:pic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3487400" y="4699000"/>
          <a:ext cx="9613900" cy="7264400"/>
        </p:xfrm>
        <a:graphic>
          <a:graphicData uri="http://schemas.openxmlformats.org/drawingml/2006/table">
            <a:tbl>
              <a:tblPr/>
              <a:tblGrid>
                <a:gridCol w="4808163"/>
                <a:gridCol w="4808163"/>
              </a:tblGrid>
              <a:tr h="64093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9/28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14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4093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10/5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11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4093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10/12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15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4093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10/19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4093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10/26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12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4093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11/2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8253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11/9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28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8253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11/16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19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8253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11/23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8253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11/30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14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  <a:tr h="68253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37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12/7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" sz="240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</a:rPr>
                        <a:t>14</a:t>
                      </a:r>
                      <a:endParaRPr lang="en-US" sz="1100"/>
                    </a:p>
                  </a:txBody>
                  <a:tcPr anchor="ctr" marL="91440" marT="45720" marR="91440" marB="4572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